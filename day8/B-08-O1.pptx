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4713B"/>
                </a:solidFill>
                <a:latin typeface="맑은 고딕"/>
              </a:rPr>
              <a:t>사업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5C3D2E"/>
                </a:solidFill>
                <a:latin typeface="맑은 고딕"/>
              </a:rPr>
              <a:t>모닝브루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C4713B"/>
                </a:solidFill>
                <a:latin typeface="맑은 고딕"/>
              </a:rPr>
              <a:t>"줄 서는 5분, 예약하면 0분."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7A6E"/>
                </a:solidFill>
                <a:latin typeface="맑은 고딕"/>
              </a:rPr>
              <a:t>망원동 핸드드립 카페 · 아침 픽업 예약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A7A6E"/>
                </a:solidFill>
                <a:latin typeface="맑은 고딕"/>
              </a:rPr>
              <a:t>대표 정해린  ·  2026. 7. 15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A7A6E"/>
                </a:solidFill>
                <a:latin typeface="맑은 고딕"/>
              </a:rPr>
              <a:t>(바이브 코딩 기초반 실습용 가상 사업)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02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출근길 아침, 커피 한 잔이 어렵다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4713B"/>
                </a:solidFill>
                <a:latin typeface="맑은 고딕"/>
              </a:rPr>
              <a:t>⏰ 줄서기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3D2E"/>
                </a:solidFill>
                <a:latin typeface="맑은 고딕"/>
              </a:rPr>
              <a:t>프랜차이즈 앞 대기 — 출근 시간에 쫓긴다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4713B"/>
                </a:solidFill>
                <a:latin typeface="맑은 고딕"/>
              </a:rPr>
              <a:t>❓ 예측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3D2E"/>
                </a:solidFill>
                <a:latin typeface="맑은 고딕"/>
              </a:rPr>
              <a:t>오늘 얼마나 기다릴지 알 수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21031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4713B"/>
                </a:solidFill>
                <a:latin typeface="맑은 고딕"/>
              </a:rPr>
              <a:t>☕ 품질 타협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9" y="274320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3D2E"/>
                </a:solidFill>
                <a:latin typeface="맑은 고딕"/>
              </a:rPr>
              <a:t>편의점 커피는 빠르지만 아쉽다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C3D2E"/>
                </a:solidFill>
                <a:latin typeface="맑은 고딕"/>
              </a:rPr>
              <a:t>타깃: 망원역 인근으로 출근하는 30대 직장인 — 아침 8~9시, 시간에 쫓기며 품질 좋은 커피를 원하는 사람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※ 위 불편은 가설이며 검증을 진행 중입니다 (시장조사 B-02-R1 검증 항목)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03 해결책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네 가지를 동시에 — 그래서 모닝브루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4713B"/>
                </a:solidFill>
                <a:latin typeface="맑은 고딕"/>
              </a:rPr>
              <a:t>🌅 이른 아침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매일 08시 오픈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아침을 여는 카페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4713B"/>
                </a:solidFill>
                <a:latin typeface="맑은 고딕"/>
              </a:rPr>
              <a:t>☕ 핸드드립 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한 잔씩 직접 내림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당일 구운 스콘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4713B"/>
                </a:solidFill>
                <a:latin typeface="맑은 고딕"/>
              </a:rPr>
              <a:t>🪑 골목의 편안함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망원동 골목 끝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1인 좌석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210312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4713B"/>
                </a:solidFill>
                <a:latin typeface="맑은 고딕"/>
              </a:rPr>
              <a:t>📝 사전 픽업 예약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29260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미리 주문하고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픽업만 — 대기 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C3D2E"/>
                </a:solidFill>
                <a:latin typeface="맑은 고딕"/>
              </a:rPr>
              <a:t>"줄 서는 5분, 예약하면 0분." — 확인된 범위에서 네 가지를 함께 제공하는 대안은 드뭅니다 (상권 실사로 검증 예정)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04 시장 규모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TAM → SAM → SOM — 큰 시장에서 잡을 시장으로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9966960" cy="1234440"/>
          </a:xfrm>
          <a:prstGeom prst="round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709928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550AE"/>
                </a:solidFill>
                <a:latin typeface="맑은 고딕"/>
              </a:rPr>
              <a:t>TAM · 국내 커피 시장   —   약 10조 원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67128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출처: 코리아비즈리뷰 2025 — 집계 기준별 10~21조 원 (Expert Market Research 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017520"/>
            <a:ext cx="7223760" cy="1234440"/>
          </a:xfrm>
          <a:prstGeom prst="roundRect">
            <a:avLst/>
          </a:prstGeom>
          <a:solidFill>
            <a:srgbClr val="FD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3127248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06030"/>
                </a:solidFill>
                <a:latin typeface="맑은 고딕"/>
              </a:rPr>
              <a:t>SAM · 망원역 상권 카페 시장   —   약 100억 원 (직접 추정)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584448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산식: 상권 카페 약 50곳 × 평균 연매출 약 2억 원 — 상권 실사로 확정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434840"/>
            <a:ext cx="4480560" cy="1234440"/>
          </a:xfrm>
          <a:prstGeom prst="roundRect">
            <a:avLst/>
          </a:prstGeom>
          <a:solidFill>
            <a:srgbClr val="EE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54456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7A3A"/>
                </a:solidFill>
                <a:latin typeface="맑은 고딕"/>
              </a:rPr>
              <a:t>SOM · 아침 픽업 목표 (캐파 기반)   —   월 약 515만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500176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산식: 일 최대 36잔(6슬롯×2시간×3잔) × 객단가 5,500원 × 월 26일 — 구현된 슬롯 정책 근거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※ 모든 수치에 출처·산식을 표기 — TAM은 직접 검색으로 확정(검증 메모 B-08-O3), SAM·SOM은 추정임을 명시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05 제품 /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1분 예약, 0분 대기 — 실제로 동작하는 서비스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463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12435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C3D2E"/>
                </a:solidFill>
                <a:latin typeface="맑은 고딕"/>
              </a:rPr>
              <a:t>① 페이지 방문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737360"/>
            <a:ext cx="1463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1828800"/>
            <a:ext cx="12435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C3D2E"/>
                </a:solidFill>
                <a:latin typeface="맑은 고딕"/>
              </a:rPr>
              <a:t>② 메뉴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737360"/>
            <a:ext cx="1463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1828800"/>
            <a:ext cx="12435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C3D2E"/>
                </a:solidFill>
                <a:latin typeface="맑은 고딕"/>
              </a:rPr>
              <a:t>③ 웹 폼 예약</a:t>
            </a:r>
          </a:p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C3D2E"/>
                </a:solidFill>
                <a:latin typeface="맑은 고딕"/>
              </a:rPr>
              <a:t>(날짜·시간·수량)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737360"/>
            <a:ext cx="1463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828800"/>
            <a:ext cx="12435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C3D2E"/>
                </a:solidFill>
                <a:latin typeface="맑은 고딕"/>
              </a:rPr>
              <a:t>④ 매장 픽업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 픽업: 08:00~10:00 · 10분 슬롯 (월 휴무)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 슬롯당 3잔 한정 — 마감 슬롯 선택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5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 내 예약 확인·접수 취소 셀프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35424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 접수→확정→픽업완료 상태 관리(관리자)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10912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 개인정보 최소 수집 + 동의·보유기간 고지</a:t>
            </a:r>
          </a:p>
        </p:txBody>
      </p:sp>
      <p:pic>
        <p:nvPicPr>
          <p:cNvPr id="18" name="Picture 17" descr="B-07-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2362074" cy="4480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60" y="62636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7A6E"/>
                </a:solidFill>
                <a:latin typeface="맑은 고딕"/>
              </a:rPr>
              <a:t>그림: 사용자 흐름도(오류 경로 포함)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4713B"/>
                </a:solidFill>
                <a:latin typeface="맑은 고딕"/>
              </a:rPr>
              <a:t>공개 서비스: vibe-coding-practice-xi.vercel.app/day1/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06 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아침 픽업은 유입 장치 — 수익은 하루 전체에서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수익원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음료·베이커리 판매 (객단가 4,500~9,000원)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아침 픽업 → 단골 전환 → 종일 방문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(확장 후보) 원두 판매·구독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비용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원재료(원두·유제품·베이커리)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임대료 · 소모품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6052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1인 운영 — 인건비 최소화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73736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19659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성장 논리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6060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픽업 예약 = 재방문 습관화 장치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3832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슬롯 데이터로 수요 실측 → 캐파 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416052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검증 후 시간대·메뉴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※ 아침 캐파(월 ~515만 원)만으로는 손익 불충분 — 종일 매출과 결합하는 구조 (다면조사 투자자 검토 반영)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07 창업자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매일 첫 잔을 직접 내리는 사장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5C3D2E"/>
                </a:solidFill>
                <a:latin typeface="맑은 고딕"/>
              </a:rPr>
              <a:t>정해린 · 모닝브루 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핸드드립을 내리는 1인 사장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동네 손님의 아침 동선을 아는 운영자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"품질을 지키는 만큼만 받는다" — 슬롯 3잔 원칙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4713B"/>
                </a:solidFill>
                <a:latin typeface="맑은 고딕"/>
              </a:rPr>
              <a:t>운영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매일 아침 직접 로스팅 원두 확인·추출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29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당일 구운 스콘만 판매 (소진 시 사전 연락)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· 개인정보 최소 수집 · 1개월 후 파기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※ 실습용 가상 인물·프로필입니다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08 트랙션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이미 만든 것 · 앞으로 잴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A7A3A"/>
                </a:solidFill>
                <a:latin typeface="맑은 고딕"/>
              </a:rPr>
              <a:t>✅ 지금까지 (사실)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공개 웹 서비스 배포 (Vercel, 자동 재배포)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슬롯제 예약 + 관리자 시스템 가동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7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자동 검증 19항목 체계 (기능·모바일)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SEO·GEO 기초 적용 (검색 친화 메타)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2120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🎯 앞으로 잴 목표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아침 슬롯 가동률 50% (13슬롯×3잔 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노쇼율 10% 이하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40479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재방문(주 2회 이상) 고객 비중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59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3D2E"/>
                </a:solidFill>
                <a:latin typeface="맑은 고딕"/>
              </a:rPr>
              <a:t>· 예약 → 픽업 완료 전환율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7A6E"/>
                </a:solidFill>
                <a:latin typeface="맑은 고딕"/>
              </a:rPr>
              <a:t>※ 매출·이용 실적은 아직 없음 — 목표 지표로 제시 (베타 운영으로 실측 예정)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713B"/>
                </a:solidFill>
                <a:latin typeface="맑은 고딕"/>
              </a:rPr>
              <a:t>09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C3D2E"/>
                </a:solidFill>
                <a:latin typeface="맑은 고딕"/>
              </a:rPr>
              <a:t>함께해 주시면 빠르게 검증하겠습니다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🙋 베타 고객 100명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965960"/>
            <a:ext cx="6766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망원역 출근길 직장인 — 아침 픽업 예약 체험단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10881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📋 상권 실사 협조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91840"/>
            <a:ext cx="6766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SAM 추정치(상권 카페 수·매출) 확정을 위한 조사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10881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713B"/>
                </a:solidFill>
                <a:latin typeface="맑은 고딕"/>
              </a:rPr>
              <a:t>🤝 지역 파트너십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17720"/>
            <a:ext cx="6766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3D2E"/>
                </a:solidFill>
                <a:latin typeface="맑은 고딕"/>
              </a:rPr>
              <a:t>인근 오피스·코워킹 — 아침 단체 픽업 제휴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C3D2E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C4713B"/>
                </a:solidFill>
                <a:latin typeface="맑은 고딕"/>
              </a:rPr>
              <a:t>줄 서는 5분, 예약하면 0분 — 모닝브루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7A6E"/>
                </a:solidFill>
                <a:latin typeface="맑은 고딕"/>
              </a:rPr>
              <a:t>서울 망원동 골목 끝 (망원역 2번 출구 도보 6분)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7A6E"/>
                </a:solidFill>
                <a:latin typeface="맑은 고딕"/>
              </a:rPr>
              <a:t>02-123-4567  ·  @morningbrew_official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7A6E"/>
                </a:solidFill>
                <a:latin typeface="맑은 고딕"/>
              </a:rPr>
              <a:t>vibe-coding-practice-xi.vercel.app/day1/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